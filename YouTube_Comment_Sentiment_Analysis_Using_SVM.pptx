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3571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649283" y="0"/>
            <a:ext cx="14288" cy="5143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207936"/>
            <a:ext cx="5229225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YouTube Comment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 Analysis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Using SVM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428625" y="3159575"/>
            <a:ext cx="522922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High-Accuracy Binary Classification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428625" y="3723931"/>
            <a:ext cx="5229225" cy="517922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Presented by: 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Mohd Nadeem</a:t>
            </a:r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MCA Sec A</a:t>
            </a:r>
            <a:endParaRPr lang="en-US" sz="1269" dirty="0"/>
          </a:p>
        </p:txBody>
      </p:sp>
      <p:sp>
        <p:nvSpPr>
          <p:cNvPr id="8" name="Shape 5"/>
          <p:cNvSpPr/>
          <p:nvPr/>
        </p:nvSpPr>
        <p:spPr>
          <a:xfrm>
            <a:off x="5657850" y="0"/>
            <a:ext cx="3486150" cy="514350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019" y="2166342"/>
            <a:ext cx="785813" cy="7858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572500" cy="27860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Exploration and Preprocessing Strategy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543887"/>
            <a:ext cx="37861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Profile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8644" y="1902861"/>
            <a:ext cx="1400454" cy="342900"/>
          </a:xfrm>
          <a:prstGeom prst="rect">
            <a:avLst/>
          </a:prstGeom>
          <a:solidFill>
            <a:srgbClr val="F7FAFC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8644" y="1902861"/>
            <a:ext cx="1400454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Metric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1979098" y="1902861"/>
            <a:ext cx="2371446" cy="342900"/>
          </a:xfrm>
          <a:prstGeom prst="rect">
            <a:avLst/>
          </a:prstGeom>
          <a:solidFill>
            <a:srgbClr val="F7FAFC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79098" y="1902861"/>
            <a:ext cx="2371446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78644" y="2231473"/>
            <a:ext cx="1400454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Initial Records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1979098" y="2231473"/>
            <a:ext cx="2371446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18,408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78644" y="2574373"/>
            <a:ext cx="1400454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Labels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1979098" y="2574373"/>
            <a:ext cx="2371446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Positive, Negative, Neutral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78644" y="2917273"/>
            <a:ext cx="1400454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Mean Length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1979098" y="2917273"/>
            <a:ext cx="2371446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178 Characters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578644" y="3260173"/>
            <a:ext cx="1400454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Max Length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1979098" y="3260173"/>
            <a:ext cx="2371446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7,847 Characters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786313" y="1543887"/>
            <a:ext cx="37861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Preprocessing Workflow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4786313" y="1895717"/>
            <a:ext cx="13751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4995267" y="1895717"/>
            <a:ext cx="357723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 Cleaning: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Removed special characters and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handled missing values to ensure data integrity.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4786313" y="2388636"/>
            <a:ext cx="16252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5020270" y="2388636"/>
            <a:ext cx="355223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Outlier Removal: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Used IQR method to filter 1,416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extreme length comments, reducing noise.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4786313" y="2881554"/>
            <a:ext cx="16252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5020270" y="2881554"/>
            <a:ext cx="355223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Binary Focus: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Filtered for 'positive' and 'negative'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classes to optimize for high-accuracy classification.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4786313" y="3374473"/>
            <a:ext cx="1768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5034558" y="3374473"/>
            <a:ext cx="353794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Shape: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Resulted in 12,793 high-quality records for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training and testing.</a:t>
            </a:r>
            <a:endParaRPr lang="en-US" sz="88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572500" cy="27860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Engineering and SVM Model Architecture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800100" y="1601037"/>
            <a:ext cx="2019281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800100" y="2176109"/>
            <a:ext cx="201928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TF-IDF Vectorization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800100" y="2510079"/>
            <a:ext cx="201928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Converts text into numerical features while penalizing common words.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800100" y="3201544"/>
            <a:ext cx="2019281" cy="771525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0100" y="3201544"/>
            <a:ext cx="2019281" cy="77152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ngram_range=(1, 2)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min_df=2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max_df=0.95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sublinear_tf=True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3562331" y="1601037"/>
            <a:ext cx="2019309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36" dirty="0"/>
          </a:p>
        </p:txBody>
      </p:sp>
      <p:sp>
        <p:nvSpPr>
          <p:cNvPr id="10" name="Text 7"/>
          <p:cNvSpPr/>
          <p:nvPr/>
        </p:nvSpPr>
        <p:spPr>
          <a:xfrm>
            <a:off x="3562331" y="2176109"/>
            <a:ext cx="201930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Scaling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3562331" y="2510079"/>
            <a:ext cx="2019309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Normalizes sparse features to improve convergence speed and accuracy.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3562331" y="3201544"/>
            <a:ext cx="2019309" cy="500063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2331" y="3201544"/>
            <a:ext cx="2019309" cy="5000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MaxAbsScaler()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Ideal for sparse data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6324591" y="1601037"/>
            <a:ext cx="2019281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36" dirty="0"/>
          </a:p>
        </p:txBody>
      </p:sp>
      <p:sp>
        <p:nvSpPr>
          <p:cNvPr id="15" name="Text 12"/>
          <p:cNvSpPr/>
          <p:nvPr/>
        </p:nvSpPr>
        <p:spPr>
          <a:xfrm>
            <a:off x="6324591" y="2176109"/>
            <a:ext cx="201928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SVC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6324591" y="2510079"/>
            <a:ext cx="201928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Vector Classifier optimized for high-dimensional text data.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6324591" y="3018681"/>
            <a:ext cx="2019281" cy="635794"/>
          </a:xfrm>
          <a:prstGeom prst="rect">
            <a:avLst/>
          </a:prstGeom>
          <a:solidFill>
            <a:srgbClr val="F7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24591" y="3018681"/>
            <a:ext cx="2019281" cy="6357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C=0.5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max_iter=5000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182C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random_state=42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572500" cy="27860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Performance and Evaluation Metrics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6958"/>
            <a:ext cx="1428750" cy="1428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19795" y="3398583"/>
            <a:ext cx="1732359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145" b="1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89.7%</a:t>
            </a:r>
            <a:endParaRPr lang="en-US" sz="4145" dirty="0"/>
          </a:p>
        </p:txBody>
      </p:sp>
      <p:sp>
        <p:nvSpPr>
          <p:cNvPr id="6" name="Text 2"/>
          <p:cNvSpPr/>
          <p:nvPr/>
        </p:nvSpPr>
        <p:spPr>
          <a:xfrm>
            <a:off x="1019770" y="4166536"/>
            <a:ext cx="213240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OVERALL ACCURACY</a:t>
            </a:r>
            <a:endParaRPr lang="en-US" sz="1193" dirty="0"/>
          </a:p>
        </p:txBody>
      </p:sp>
      <p:sp>
        <p:nvSpPr>
          <p:cNvPr id="7" name="Shape 3"/>
          <p:cNvSpPr/>
          <p:nvPr/>
        </p:nvSpPr>
        <p:spPr>
          <a:xfrm>
            <a:off x="4036219" y="1379581"/>
            <a:ext cx="1552510" cy="385763"/>
          </a:xfrm>
          <a:prstGeom prst="rect">
            <a:avLst/>
          </a:prstGeom>
          <a:solidFill>
            <a:srgbClr val="F7FAFC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036219" y="1379581"/>
            <a:ext cx="1552510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</a:t>
            </a:r>
            <a:endParaRPr lang="en-US" sz="885" dirty="0"/>
          </a:p>
        </p:txBody>
      </p:sp>
      <p:sp>
        <p:nvSpPr>
          <p:cNvPr id="9" name="Shape 5"/>
          <p:cNvSpPr/>
          <p:nvPr/>
        </p:nvSpPr>
        <p:spPr>
          <a:xfrm>
            <a:off x="5588729" y="1379581"/>
            <a:ext cx="1113588" cy="385763"/>
          </a:xfrm>
          <a:prstGeom prst="rect">
            <a:avLst/>
          </a:prstGeom>
          <a:solidFill>
            <a:srgbClr val="F7FAFC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588729" y="1379581"/>
            <a:ext cx="1113588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Precision</a:t>
            </a:r>
            <a:endParaRPr lang="en-US" sz="885" dirty="0"/>
          </a:p>
        </p:txBody>
      </p:sp>
      <p:sp>
        <p:nvSpPr>
          <p:cNvPr id="11" name="Shape 7"/>
          <p:cNvSpPr/>
          <p:nvPr/>
        </p:nvSpPr>
        <p:spPr>
          <a:xfrm>
            <a:off x="6698466" y="1379581"/>
            <a:ext cx="835149" cy="385763"/>
          </a:xfrm>
          <a:prstGeom prst="rect">
            <a:avLst/>
          </a:prstGeom>
          <a:solidFill>
            <a:srgbClr val="F7FAFC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698466" y="1379581"/>
            <a:ext cx="835149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Recall</a:t>
            </a:r>
            <a:endParaRPr lang="en-US" sz="885" dirty="0"/>
          </a:p>
        </p:txBody>
      </p:sp>
      <p:sp>
        <p:nvSpPr>
          <p:cNvPr id="13" name="Shape 9"/>
          <p:cNvSpPr/>
          <p:nvPr/>
        </p:nvSpPr>
        <p:spPr>
          <a:xfrm>
            <a:off x="7529345" y="1379581"/>
            <a:ext cx="1036011" cy="385763"/>
          </a:xfrm>
          <a:prstGeom prst="rect">
            <a:avLst/>
          </a:prstGeom>
          <a:solidFill>
            <a:srgbClr val="F7FAFC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529345" y="1379581"/>
            <a:ext cx="1036011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F1-Score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4036219" y="1751056"/>
            <a:ext cx="1571960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Positive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5608179" y="1751056"/>
            <a:ext cx="1108621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0.92</a:t>
            </a:r>
            <a:endParaRPr lang="en-US" sz="942" dirty="0"/>
          </a:p>
        </p:txBody>
      </p:sp>
      <p:sp>
        <p:nvSpPr>
          <p:cNvPr id="17" name="Text 13"/>
          <p:cNvSpPr/>
          <p:nvPr/>
        </p:nvSpPr>
        <p:spPr>
          <a:xfrm>
            <a:off x="6716799" y="1751056"/>
            <a:ext cx="824964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0.96</a:t>
            </a:r>
            <a:endParaRPr lang="en-US" sz="942" dirty="0"/>
          </a:p>
        </p:txBody>
      </p:sp>
      <p:sp>
        <p:nvSpPr>
          <p:cNvPr id="18" name="Text 14"/>
          <p:cNvSpPr/>
          <p:nvPr/>
        </p:nvSpPr>
        <p:spPr>
          <a:xfrm>
            <a:off x="7541763" y="1751056"/>
            <a:ext cx="1023593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0.94</a:t>
            </a:r>
            <a:endParaRPr lang="en-US" sz="942" dirty="0"/>
          </a:p>
        </p:txBody>
      </p:sp>
      <p:sp>
        <p:nvSpPr>
          <p:cNvPr id="19" name="Text 15"/>
          <p:cNvSpPr/>
          <p:nvPr/>
        </p:nvSpPr>
        <p:spPr>
          <a:xfrm>
            <a:off x="4036219" y="2136818"/>
            <a:ext cx="1571960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Negative</a:t>
            </a:r>
            <a:endParaRPr lang="en-US" sz="885" dirty="0"/>
          </a:p>
        </p:txBody>
      </p:sp>
      <p:sp>
        <p:nvSpPr>
          <p:cNvPr id="20" name="Text 16"/>
          <p:cNvSpPr/>
          <p:nvPr/>
        </p:nvSpPr>
        <p:spPr>
          <a:xfrm>
            <a:off x="5608179" y="2136818"/>
            <a:ext cx="1108621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0.74</a:t>
            </a:r>
            <a:endParaRPr lang="en-US" sz="942" dirty="0"/>
          </a:p>
        </p:txBody>
      </p:sp>
      <p:sp>
        <p:nvSpPr>
          <p:cNvPr id="21" name="Text 17"/>
          <p:cNvSpPr/>
          <p:nvPr/>
        </p:nvSpPr>
        <p:spPr>
          <a:xfrm>
            <a:off x="6716799" y="2136818"/>
            <a:ext cx="824964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0.57</a:t>
            </a:r>
            <a:endParaRPr lang="en-US" sz="942" dirty="0"/>
          </a:p>
        </p:txBody>
      </p:sp>
      <p:sp>
        <p:nvSpPr>
          <p:cNvPr id="22" name="Text 18"/>
          <p:cNvSpPr/>
          <p:nvPr/>
        </p:nvSpPr>
        <p:spPr>
          <a:xfrm>
            <a:off x="7541763" y="2136818"/>
            <a:ext cx="1023593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0.65</a:t>
            </a:r>
            <a:endParaRPr lang="en-US" sz="942" dirty="0"/>
          </a:p>
        </p:txBody>
      </p:sp>
      <p:sp>
        <p:nvSpPr>
          <p:cNvPr id="23" name="Text 19"/>
          <p:cNvSpPr/>
          <p:nvPr/>
        </p:nvSpPr>
        <p:spPr>
          <a:xfrm>
            <a:off x="4036219" y="2522581"/>
            <a:ext cx="1571960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Weighted Avg</a:t>
            </a:r>
            <a:endParaRPr lang="en-US" sz="885" dirty="0"/>
          </a:p>
        </p:txBody>
      </p:sp>
      <p:sp>
        <p:nvSpPr>
          <p:cNvPr id="24" name="Text 20"/>
          <p:cNvSpPr/>
          <p:nvPr/>
        </p:nvSpPr>
        <p:spPr>
          <a:xfrm>
            <a:off x="5608179" y="2522581"/>
            <a:ext cx="1108621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0.89</a:t>
            </a:r>
            <a:endParaRPr lang="en-US" sz="942" dirty="0"/>
          </a:p>
        </p:txBody>
      </p:sp>
      <p:sp>
        <p:nvSpPr>
          <p:cNvPr id="25" name="Text 21"/>
          <p:cNvSpPr/>
          <p:nvPr/>
        </p:nvSpPr>
        <p:spPr>
          <a:xfrm>
            <a:off x="6716799" y="2522581"/>
            <a:ext cx="824964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0.90</a:t>
            </a:r>
            <a:endParaRPr lang="en-US" sz="942" dirty="0"/>
          </a:p>
        </p:txBody>
      </p:sp>
      <p:sp>
        <p:nvSpPr>
          <p:cNvPr id="26" name="Text 22"/>
          <p:cNvSpPr/>
          <p:nvPr/>
        </p:nvSpPr>
        <p:spPr>
          <a:xfrm>
            <a:off x="7541763" y="2522581"/>
            <a:ext cx="1023593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0.89</a:t>
            </a:r>
            <a:endParaRPr lang="en-US" sz="942" dirty="0"/>
          </a:p>
        </p:txBody>
      </p:sp>
      <p:sp>
        <p:nvSpPr>
          <p:cNvPr id="27" name="Text 23"/>
          <p:cNvSpPr/>
          <p:nvPr/>
        </p:nvSpPr>
        <p:spPr>
          <a:xfrm>
            <a:off x="4029075" y="3129800"/>
            <a:ext cx="4543425" cy="980033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model demonstrates </a:t>
            </a:r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exceptional performance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identifying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positive sentiments. While negative sentiment recall is lower, the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overall weighted F1-score of 0.89 confirms a highly reliable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classification system for YouTube comments.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18353"/>
            <a:ext cx="8572500" cy="27860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 and Future Recommendations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800100" y="1772487"/>
            <a:ext cx="33289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Insights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800100" y="2160036"/>
            <a:ext cx="4643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932259" y="2160036"/>
            <a:ext cx="319682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SVM Efficiency: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Linear SVM is highly effective for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high-dimensional text data when paired with TF-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IDF.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800100" y="2920064"/>
            <a:ext cx="4643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932259" y="2920064"/>
            <a:ext cx="319682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Quality: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Rigorous outlier removal and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binary focus were critical to achieving ~90%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accuracy.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800100" y="3680092"/>
            <a:ext cx="4643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932259" y="3680092"/>
            <a:ext cx="319682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Impact: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N-gram ranges (1,2) significantly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improved contextual understanding over simple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unigrams.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5014913" y="1772487"/>
            <a:ext cx="332898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Roadmap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5014913" y="2160036"/>
            <a:ext cx="4643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5147072" y="2160036"/>
            <a:ext cx="319682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Learning: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Implement BERT or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Transformers to improve recall on complex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negative sentiments.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5014913" y="2920064"/>
            <a:ext cx="4643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5147072" y="2920064"/>
            <a:ext cx="319682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Multi-class: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Expand the model to include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'neutral' comments for a more comprehensive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analysis.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014913" y="3680092"/>
            <a:ext cx="4643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5147072" y="3680092"/>
            <a:ext cx="319682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Real-time: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Deploy as a microservice for live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sentiment tracking of YouTube comment </a:t>
            </a:r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streams.</a:t>
            </a:r>
            <a:endParaRPr lang="en-US" sz="885" dirty="0"/>
          </a:p>
        </p:txBody>
      </p:sp>
      <p:sp>
        <p:nvSpPr>
          <p:cNvPr id="18" name="Shape 15"/>
          <p:cNvSpPr/>
          <p:nvPr/>
        </p:nvSpPr>
        <p:spPr>
          <a:xfrm>
            <a:off x="0" y="4586288"/>
            <a:ext cx="9144000" cy="5572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0" y="4586288"/>
            <a:ext cx="9144000" cy="7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7"/>
          <p:cNvSpPr/>
          <p:nvPr/>
        </p:nvSpPr>
        <p:spPr>
          <a:xfrm>
            <a:off x="0" y="4586288"/>
            <a:ext cx="9144000" cy="557213"/>
          </a:xfrm>
          <a:prstGeom prst="rect">
            <a:avLst/>
          </a:prstGeom>
          <a:noFill/>
          <a:ln/>
        </p:spPr>
        <p:txBody>
          <a:bodyPr wrap="square" lIns="680339" tIns="170053" rIns="0" bIns="340233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0AE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YouTube Comment Sentiment Analysis | Mohd Nadeem | MCA Sec A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766179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2034099"/>
            <a:ext cx="3194679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You!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571500" y="2908483"/>
            <a:ext cx="319467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3182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Any Questions?</a:t>
            </a:r>
            <a:endParaRPr lang="en-US" sz="1704" dirty="0"/>
          </a:p>
        </p:txBody>
      </p:sp>
      <p:sp>
        <p:nvSpPr>
          <p:cNvPr id="6" name="Shape 3"/>
          <p:cNvSpPr/>
          <p:nvPr/>
        </p:nvSpPr>
        <p:spPr>
          <a:xfrm>
            <a:off x="3766179" y="0"/>
            <a:ext cx="5377821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766179" y="0"/>
            <a:ext cx="14288" cy="51435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5"/>
          <p:cNvSpPr/>
          <p:nvPr/>
        </p:nvSpPr>
        <p:spPr>
          <a:xfrm>
            <a:off x="4343400" y="1751112"/>
            <a:ext cx="48006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365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Mohd Nadeem</a:t>
            </a:r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
</a:t>
            </a:r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2D37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MCA Sec A</a:t>
            </a:r>
            <a:endParaRPr lang="en-US" sz="1486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588716"/>
            <a:ext cx="892969" cy="714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2026-03-25T16:56:45Z</dcterms:created>
  <dcterms:modified xsi:type="dcterms:W3CDTF">2026-03-25T16:56:45Z</dcterms:modified>
</cp:coreProperties>
</file>